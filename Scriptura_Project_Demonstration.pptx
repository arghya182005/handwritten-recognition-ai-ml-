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26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E8A93D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E8A93D"/>
                </a:solidFill>
              </a:rPr>
              <a:t>✒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SCRIPTURA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Sentence Recognition with a CRNN + CTC Deep Learning Pipeline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  •  Dataset: IAM Sentence Dataset  •  Model: CNN + BiLSTM + CTC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photo of handwriting  →  clean, editable digital text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1109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handwriting recognition matters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91109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Sentence Dataset → model-ready tensors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1109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17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CRNN: CNN + BiLSTM + CTC loss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7F4EA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0565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epochs, CER / WER results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7F4EA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10565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app.py, preprocessing.py, decoder.py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7F4EA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10565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Live Demo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main.js, then conclusion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741776-DAAF-4D94-8AC8-A63A771437A8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4253BE8D-5B11-8AA2-4C74-B8BD3BE0FEA9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00C33953-CE4D-5617-75D9-C8C2139EBF58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64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Handwriting Is Everywhere — But Computers Can't Read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forms, letters, and historical documents are still written by hand every day.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is not typed text: no fixed font, variable spacing, joined letters, and personal style.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re-typing handwritten content is slow, repetitive, and error-prone.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OCR built for printed text (fixed fonts) performs poorly on cursive / natural handwriting.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system that looks at a photo of a handwritten sentence and directly outputs digital, editable text.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663440" cy="4297680"/>
          </a:xfrm>
          <a:prstGeom prst="roundRect">
            <a:avLst>
              <a:gd name="adj" fmla="val 2128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E8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26517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photo of a handwritten sentence, automatically recognize and output the text it contains — without any manual typing.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5029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problem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solves.</a:t>
            </a:r>
            <a:endParaRPr lang="en-US" sz="12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2B5CB-09A3-AE4A-2153-848FCC3829CE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E827528B-D6BA-8996-90C7-698825090736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6" name="Text 27">
            <a:extLst>
              <a:ext uri="{FF2B5EF4-FFF2-40B4-BE49-F238E27FC236}">
                <a16:creationId xmlns:a16="http://schemas.microsoft.com/office/drawing/2014/main" id="{C34F6369-82BD-2841-B4A5-F7F58F5AA75E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accurate recognizer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4144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deep-learning model that reads full handwritten sentences (not just single words or characters).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real, standard dataset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4144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on the IAM Sentence Dataset, a widely used handwriting-recognition benchmark.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variable-length text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8172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CTC (Connectionist Temporal Classification) so the model doesn't need pre-segmented characters.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usable application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68172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trained model in a Flask web app with drag-and-drop upload and live camera capture.</a:t>
            </a:r>
            <a:endParaRPr lang="en-US" sz="11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3A6B11-40CA-DD20-2439-1BBDE45909A0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69EF1D3-71FD-8811-1408-FB1CD30271EE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AB9C42F-365E-5DD3-2544-FF4A01309640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— From Photo to 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8884" y="2377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8884" y="2514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60324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photo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0324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or captures an image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34844" y="28803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0876" y="2377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0876" y="2514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982316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82316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resize, pad to 1024×64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56836" y="28803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12868" y="2377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12868" y="2514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204308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CRNN model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04308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BiLSTM predicts per-timestep characters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078828" y="28803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34860" y="2377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4860" y="2514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🔤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426300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decoding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26300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repeats, removes blanks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300820" y="288036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56852" y="2377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8A93D"/>
          </a:solidFill>
          <a:ln w="15240">
            <a:solidFill>
              <a:srgbClr val="E8A9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56852" y="2514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✓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648292" y="3154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text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48292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the web UI with confidence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the project: an offline training notebook that produces the model, and a Flask web app that uses it live.</a:t>
            </a:r>
            <a:endParaRPr lang="en-US" sz="13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2C137B-F8B3-EAD8-558F-1E5D2EEEA602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2E77D9F1-E2E6-7BAF-4DD6-6AFD0EACBABA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A7ECD51C-942D-D539-86A0-963FC2C0AD85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Sentence Dataset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4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python16/iam-sentence-dataset (downloaded in the notebook via </a:t>
            </a:r>
            <a:r>
              <a:rPr lang="en-US" sz="1450" dirty="0" err="1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kagglehub</a:t>
            </a:r>
            <a:r>
              <a:rPr lang="en-US" sz="14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</a:t>
            </a:r>
            <a:r>
              <a:rPr lang="en-US" sz="14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images of full handwritten English sentences, each paired with its ground-truth transcription.</a:t>
            </a:r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</a:t>
            </a:r>
            <a:r>
              <a:rPr lang="en-US" sz="14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sentences.csv file mapping each image to its label text; the notebook's loader also supports IAM-style .txt annotations.</a:t>
            </a:r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r>
              <a:rPr lang="en-US" sz="14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unique characters (letters, digits, punctuation, space) built only from the training split.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938528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16,752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496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image–label pairs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73836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38360" y="1938528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13,401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829800" y="2496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sentences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3154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3264408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3,351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822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sentences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738360" y="3154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38360" y="3264408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829800" y="3822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label length (chars)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0" y="4434840"/>
            <a:ext cx="4297680" cy="1737360"/>
          </a:xfrm>
          <a:prstGeom prst="roundRect">
            <a:avLst>
              <a:gd name="adj" fmla="val 4737"/>
            </a:avLst>
          </a:prstGeom>
          <a:solidFill>
            <a:srgbClr val="FBF3E3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5537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labels (from the actual dataset):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864608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22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 MOVE to stop Mr. Gaitskell from”</a:t>
            </a:r>
            <a:endParaRPr lang="en-US" sz="1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22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“nominating any more Labour life Peers”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2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“Mr. Michael Foot has”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D4B288-65F6-998F-6F70-58BBBABA9243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144D1A64-CD54-D4D5-2199-B552C0DB2574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4E3B2C44-4E53-96BB-A797-56E5D9897B89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 Used in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20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23160"/>
            <a:ext cx="32095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— build &amp; train the CRNN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 — arrays &amp; the image–label table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train / test split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PIL — visualize samples &amp; training curves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kagglehub — download the IAM Sentence Dataset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416552" y="173736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Backend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23160"/>
            <a:ext cx="32095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web server &amp; REST-style routes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— load model.keras &amp; run predict()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 — decode &amp; preprocess uploaded images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tensor manipulation, CTC decoding math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284464" y="173736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1920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423160"/>
            <a:ext cx="32095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Bootstrap 5 — page structure &amp; styling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(main.js) — upload, camera, fetch()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— UI iconography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client-side prediction history</a:t>
            </a:r>
            <a:endParaRPr lang="en-US" sz="113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EC2BA-74E4-9068-E498-7534D0F66991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F5843481-7663-CD5F-E397-3E2483B7C7AA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5A4D8A2B-F29D-8DA5-EAE2-5E4EBAE7BC9A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Files Fit Together</a:t>
            </a:r>
            <a:endParaRPr lang="en-US" sz="3200" dirty="0"/>
          </a:p>
        </p:txBody>
      </p:sp>
      <p:pic>
        <p:nvPicPr>
          <p:cNvPr id="4" name="Image 0" descr="/home/claude/assets/componen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600200"/>
            <a:ext cx="7616952" cy="4967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53C1CB-BA5A-0AAF-3108-3C9F823A1541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50C9432E-278C-49ED-3D12-FB03CCD3CAF3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5B9D1D7E-A56C-5B30-310D-24A4DBB834DE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Images Into Model-Ready Tensors</a:t>
            </a:r>
            <a:endParaRPr lang="en-US" sz="3200" dirty="0"/>
          </a:p>
        </p:txBody>
      </p:sp>
      <p:pic>
        <p:nvPicPr>
          <p:cNvPr id="4" name="Image 0" descr="/home/claude/assets/preprocessing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6492240" cy="1947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23760" y="1828800"/>
            <a:ext cx="4480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decode_png(channels=1) — read as single-channel grayscale PNG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convert_image_dtype(float32) — scales pixel values to [0, 1]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resize_with_pad(64, 1024) — preserves aspect ratio, avoids distortion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(H,W,C) → (W,H,C) — width becomes the CTC time axis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char_to_num + pad_sequences to MAX_LEN=82 with PAD_TOKEN=79</a:t>
            </a: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33248-00DE-3F6F-E0F4-DDF3EE25F237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4EEF9698-DF74-D254-FF0F-D36CD5B1AFE0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517DE8FB-682C-4956-AA16-D6A7A38EE2AA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CRNN: CNN + BiLSTM + CTC</a:t>
            </a:r>
            <a:endParaRPr lang="en-US" sz="3200" dirty="0"/>
          </a:p>
        </p:txBody>
      </p:sp>
      <p:pic>
        <p:nvPicPr>
          <p:cNvPr id="4" name="Image 0" descr="/home/claude/assets/crn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417320"/>
            <a:ext cx="2798064" cy="5080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DD5B1A-0678-470A-4088-C1682D4DBA7A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B8085893-7B72-FA56-32D0-C713A0FAF39C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C6141747-4958-AE8E-8298-BF81ABC5335A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CNN + BiLSTM + CTC for Handwriting?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layers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41448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local stroke/shape features (curves, loops, edges) directly from pixels — no manual feature engineering.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9659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sequence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41448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map is reshaped into a sequence of 256 time steps, one “slice” moving left to right across the sentence.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BF3E3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81728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sequence forward and backward, so each character prediction uses context from letters before AND after it.</a:t>
            </a:r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BF3E3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2062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681728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model learn without knowing in advance which pixels correspond to which character — no manual alignment needed.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52DDD9-CD8A-D8F6-41A8-3091037F9285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BE50BB48-3EDC-9631-AE8F-3DB4819435B6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74C7CFAA-516C-A8F4-B133-6D3EB87A1BD1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Connectionist Temporal Classification (CTC)</a:t>
            </a:r>
            <a:endParaRPr lang="en-US" sz="3200" dirty="0"/>
          </a:p>
        </p:txBody>
      </p:sp>
      <p:pic>
        <p:nvPicPr>
          <p:cNvPr id="4" name="Image 0" descr="/home/claude/assets/ctc_expl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691640"/>
            <a:ext cx="9601200" cy="40106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lets the model output one guess per time step without needing pre-aligned, pre-segmented labels — it learns the alignment itself, and a special ‘blank’ class absorbs time steps between characters.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172F8-266B-B7FB-7414-14B3B4344927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7DC64756-D89E-B289-E9EE-9EA346D6C562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65DEBFF4-424E-E4E3-CBBA-4D8A40B8A6B9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Process &amp; Loss Curve</a:t>
            </a:r>
            <a:endParaRPr lang="en-US" sz="3200" dirty="0"/>
          </a:p>
        </p:txBody>
      </p:sp>
      <p:pic>
        <p:nvPicPr>
          <p:cNvPr id="4" name="Image 0" descr="/home/claude/assets/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7406640" cy="27226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737360"/>
            <a:ext cx="3657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Adam, initial learning rate 1e-3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16  —  837 steps / epoch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30 (full run — no early stop needed)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 EarlyStopping, ReduceLROnPlateau, ModelCheckpoint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train loss 3.98, val loss 8.75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304A7-E9D1-7464-E8C6-DEEF3CE688D3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6C9A12B0-B4C4-EA3F-2231-CDB6CEC7C886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2DD5D3B9-77C0-77E3-99B7-8D479C33FF3E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 Is the Model?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9120" y="1426278"/>
            <a:ext cx="3337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6.82%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564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Error Rate (CER) on test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18288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9080" y="1426278"/>
            <a:ext cx="3337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22.13%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34564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(WER) on test set</a:t>
            </a:r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59040" y="1426278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76.44%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749540" y="3456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per-character exact-match accuracy (separate notebook check)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/ WER are computed as normalized edit (Levenshtein) distance — lower is better, 0 is a perfect transcription — averaged over 3,344 test sentences.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 </a:t>
            </a:r>
            <a:r>
              <a:rPr lang="en-US" sz="1150" dirty="0">
                <a:solidFill>
                  <a:srgbClr val="22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“varies from about 30 per cent in Welwyn to 85 per cent in”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Predicted:  </a:t>
            </a:r>
            <a:r>
              <a:rPr lang="en-US" sz="1150" dirty="0">
                <a:solidFill>
                  <a:srgbClr val="22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“varices fhom about 50 peicent in Welwyn to8s per cent in”   (36.8% char accuracy — a harder sample)</a:t>
            </a:r>
            <a:endParaRPr lang="en-US" sz="11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FE14FE-FA8B-1456-816A-35C4CF5985D3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B7BA8EC7-545C-7E4B-FC9F-6825F1CBFBBC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87935057-9EAC-7ACD-EA64-262E1CB868C0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Uploaded Photo to Predicted Text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that runs the moment you click “Recognize text” in the browser.</a:t>
            </a:r>
            <a:endParaRPr lang="en-US" sz="1350" dirty="0"/>
          </a:p>
        </p:txBody>
      </p:sp>
      <p:pic>
        <p:nvPicPr>
          <p:cNvPr id="5" name="Image 0" descr="/home/claude/assets/pipelin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874520"/>
            <a:ext cx="8339328" cy="4618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4FE104-AA9B-8CC4-9DCB-06517D89187D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6F229C5F-1C2C-F167-FAAF-92D036E0F16B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28863EE1-C9A8-A6FE-E126-9E706324481A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 — The Flask Server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vocab.json once at startup, sorted by index → charset[i] matches the class the model predicts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trained model.keras once at startup (compile=False — not retraining)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 /  — renders index.html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 /predict  and  /api/predict  — both handle the same upload+predict logic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handle_prediction(): read image bytes → preprocess_image() → model.predict() → ctc_greedy_decode() → JSON response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96596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@app.route('/api/predict', methods=['POST'])
def api_predict():
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handle_prediction()
</a:t>
            </a:r>
            <a:r>
              <a:rPr lang="en-US" sz="1150" dirty="0">
                <a:solidFill>
                  <a:srgbClr val="9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inside handle_prediction():
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model_input, _ = preprocess_image(
    image_bytes, IMG_HEIGHT, IMG_WIDTH)
preds = model.predict(model_input)
text, confidence = ctc_greedy_decode(
    preds, charset)
return jsonify({'success': True,
    'text': text, 'confidence': confidence})</a:t>
            </a:r>
            <a:endParaRPr lang="en-US" sz="11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1D5E2-4153-30ED-545C-D3B9FBDB7E9C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023FFD9F-7237-1A42-2F3C-8664BA25DBAA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14" name="Text 27">
            <a:extLst>
              <a:ext uri="{FF2B5EF4-FFF2-40B4-BE49-F238E27FC236}">
                <a16:creationId xmlns:a16="http://schemas.microsoft.com/office/drawing/2014/main" id="{5628BE72-9604-6E4F-E32E-975422934C5D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index.html + main.js — The User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476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32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drag &amp; drop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535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8MB limit, image-type validation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9476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32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capture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535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 + canvas frame grab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476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32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reveal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535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“ghost” handwriting → typewriter 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422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27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480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per-character CTC probability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1422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🗂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727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history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1480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the browser's localStorage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1422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727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1480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toggle, remembered across visits</a:t>
            </a:r>
            <a:endParaRPr 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849023-9395-E5F9-ED9A-23A006ADC200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AB6EE85B-D8F8-F1FA-E4F3-3A8EADE2B16F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B26C9A4A-CADD-5A20-89B5-7E82F99F392C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Bugs Fixed During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CEEEA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Wrong character mapping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4892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once rebuilt the correct charset from vocab.json, then overwrote it with a hardcoded alphabetical string. Since vocab.json is NOT in alphabetical order, every predicted index decoded to the wrong character (e.g. “Mr.” came out as “;B;”).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4480560"/>
            <a:ext cx="4892040" cy="1234440"/>
          </a:xfrm>
          <a:prstGeom prst="roundRect">
            <a:avLst>
              <a:gd name="adj" fmla="val 5185"/>
            </a:avLst>
          </a:prstGeom>
          <a:solidFill>
            <a:srgbClr val="E8F5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5720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build charset strictly from vocab.json's index order; never overwrite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CEEEA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9659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Preprocessing mismatch risk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560320"/>
            <a:ext cx="4892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preprocessing.py hard-binarized images (pure black/white) before resizing. The model was trained on smooth grayscale strokes, so binarizing at inference time shifts the input distribution and degrades predictions.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4480560"/>
            <a:ext cx="4892040" cy="1234440"/>
          </a:xfrm>
          <a:prstGeom prst="roundRect">
            <a:avLst>
              <a:gd name="adj" fmla="val 5185"/>
            </a:avLst>
          </a:prstGeom>
          <a:solidFill>
            <a:srgbClr val="E8F5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45720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binarization is now OFF by default (binarize=False); preprocessing matches the training pipeline's smooth grayscale.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7B4938-28BE-3C7E-28AD-A4789D7528FC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494FCC39-94CB-5399-AF9C-A563B04292D2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21" name="Text 27">
            <a:extLst>
              <a:ext uri="{FF2B5EF4-FFF2-40B4-BE49-F238E27FC236}">
                <a16:creationId xmlns:a16="http://schemas.microsoft.com/office/drawing/2014/main" id="{97032F51-BC63-24B6-5709-774B77B40A5D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Script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app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78308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python app.py  — model + vocab load, Flask starts on port 5000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0" cy="14630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4144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browser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44144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local URL; show the upload panel and result panel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0" cy="14630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998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sample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309981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a handwriting photo, or open the camera tab and capture 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630168"/>
            <a:ext cx="0" cy="14630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13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5818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“Recognize text”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375818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image → preprocessing → model → CTC decode, happening now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288536"/>
            <a:ext cx="0" cy="14630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41655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result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441655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the typewriter reveal, the confidence bar, and the %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4946904"/>
            <a:ext cx="0" cy="14630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0749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history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50749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past entry to reload it; clear history to reset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E28B10-E04B-59EC-140A-7655CFD03023}"/>
              </a:ext>
            </a:extLst>
          </p:cNvPr>
          <p:cNvSpPr txBox="1"/>
          <p:nvPr/>
        </p:nvSpPr>
        <p:spPr>
          <a:xfrm>
            <a:off x="-124413" y="6483282"/>
            <a:ext cx="12419045" cy="9446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A814AEDF-745F-B8BD-83BD-4A067F7F4E55}"/>
              </a:ext>
            </a:extLst>
          </p:cNvPr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Scriptura — Handwritten Sentence Recognition (CRNN + CTC)</a:t>
            </a:r>
            <a:endParaRPr lang="en-US" sz="9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16A6606A-CA88-711C-EF61-C5512122168F}"/>
              </a:ext>
            </a:extLst>
          </p:cNvPr>
          <p:cNvSpPr txBox="1"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Future Scope &amp; 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IAM English handwriting — other languages/scripts are out of scope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word error rate means whole-word mistakes are still common on harder samples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CTC decoding only — no beam search or language model correction in the app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reasonably legible, well-lit handwriting photos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4884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beam-search CTC decoding with a language model for fewer word-level errors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additional handwriting styles / languages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behind a proper WSGI server (not Flask's debug server) for production use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feedback loop so corrected predictions can improve the model over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12700">
            <a:solidFill>
              <a:srgbClr val="3A42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Scriptura shows a complete, working handwriting-to-text pipeline — from a raw dataset, through a trained CRNN + CTC model, to a live web application — built and debugged end-to-end.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2025</Words>
  <Application>Microsoft Office PowerPoint</Application>
  <PresentationFormat>Widescreen</PresentationFormat>
  <Paragraphs>281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Arghyadeep Dey</cp:lastModifiedBy>
  <cp:revision>4</cp:revision>
  <dcterms:created xsi:type="dcterms:W3CDTF">2026-08-28T14:44:34Z</dcterms:created>
  <dcterms:modified xsi:type="dcterms:W3CDTF">2026-08-28T15:10:08Z</dcterms:modified>
</cp:coreProperties>
</file>